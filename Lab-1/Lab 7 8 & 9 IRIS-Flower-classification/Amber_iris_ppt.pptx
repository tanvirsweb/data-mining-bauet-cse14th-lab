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embeddedFontLs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CenturyGothic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6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1" name="Google Shape;71;p6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6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1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4DCE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1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1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20" name="Google Shape;20;p1"/>
            <p:cNvSpPr/>
            <p:nvPr/>
          </p:nvSpPr>
          <p:spPr>
            <a:xfrm>
              <a:off x="6627813" y="195610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168DB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1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7" name="Google Shape;37;p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File:R._A._Fischer.jpg" TargetMode="External"/><Relationship Id="rId4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2539659" y="3870664"/>
            <a:ext cx="8911687" cy="701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Introduction To Machine Learning</a:t>
            </a:r>
            <a:endParaRPr/>
          </a:p>
        </p:txBody>
      </p:sp>
      <p:pic>
        <p:nvPicPr>
          <p:cNvPr id="165" name="Google Shape;165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894" y="975147"/>
            <a:ext cx="4107536" cy="245385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8362763" y="5228948"/>
            <a:ext cx="3829235" cy="16290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sssaa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 flipH="1">
            <a:off x="8424909" y="5344357"/>
            <a:ext cx="361321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Name: Amber Kakkar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Course: B.tech CSE-A(3</a:t>
            </a:r>
            <a:r>
              <a:rPr baseline="30000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rd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year)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Roll no: 180102008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2592925" y="632988"/>
            <a:ext cx="8911687" cy="2491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What is Machine Learning?</a:t>
            </a:r>
            <a:br>
              <a:rPr lang="en-US"/>
            </a:br>
            <a:br>
              <a:rPr lang="en-US"/>
            </a:br>
            <a:r>
              <a:rPr lang="en-US" sz="2800"/>
              <a:t>“Learning is any process by which a system improves performance from experience.”</a:t>
            </a:r>
            <a:br>
              <a:rPr lang="en-US" sz="2800"/>
            </a:br>
            <a:r>
              <a:rPr lang="en-US" sz="2800"/>
              <a:t>											-Herbert Simon</a:t>
            </a:r>
            <a:endParaRPr sz="2800"/>
          </a:p>
        </p:txBody>
      </p:sp>
      <p:pic>
        <p:nvPicPr>
          <p:cNvPr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7185" y="3219492"/>
            <a:ext cx="8247356" cy="3504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2592925" y="624110"/>
            <a:ext cx="8911687" cy="498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28571"/>
              <a:buFont typeface="Century Gothic"/>
              <a:buNone/>
            </a:pPr>
            <a:r>
              <a:rPr lang="en-US"/>
              <a:t>When Do We Use Machine Learning?</a:t>
            </a:r>
            <a:br>
              <a:rPr lang="en-US"/>
            </a:br>
            <a:br>
              <a:rPr lang="en-US"/>
            </a:br>
            <a:r>
              <a:rPr lang="en-US" sz="2800"/>
              <a:t>ML is usedwhen:</a:t>
            </a:r>
            <a:br>
              <a:rPr lang="en-US" sz="2800"/>
            </a:br>
            <a:r>
              <a:rPr lang="en-US" sz="2800"/>
              <a:t>•Human expertise doesnot exist(navigating on Mars)</a:t>
            </a:r>
            <a:br>
              <a:rPr lang="en-US" sz="2800"/>
            </a:br>
            <a:br>
              <a:rPr lang="en-US" sz="2800"/>
            </a:br>
            <a:r>
              <a:rPr lang="en-US" sz="2800"/>
              <a:t>•Humans can’t explain their expertise</a:t>
            </a:r>
            <a:br>
              <a:rPr lang="en-US" sz="2800"/>
            </a:br>
            <a:r>
              <a:rPr lang="en-US" sz="2800"/>
              <a:t>( speechrecognition) </a:t>
            </a:r>
            <a:br>
              <a:rPr lang="en-US" sz="2800"/>
            </a:br>
            <a:r>
              <a:rPr lang="en-US" sz="2800"/>
              <a:t>  </a:t>
            </a:r>
            <a:br>
              <a:rPr lang="en-US" sz="2800"/>
            </a:br>
            <a:r>
              <a:rPr lang="en-US" sz="2800"/>
              <a:t>•Models are based on huge amounts of data</a:t>
            </a:r>
            <a:br>
              <a:rPr lang="en-US" sz="2800"/>
            </a:br>
            <a:endParaRPr sz="2800"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2589212" y="5610686"/>
            <a:ext cx="8915400" cy="300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37172" lvl="0" marL="34290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6865" y="792332"/>
            <a:ext cx="9280941" cy="527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2592925" y="624109"/>
            <a:ext cx="8911687" cy="4835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16129"/>
              <a:buFont typeface="Century Gothic"/>
              <a:buNone/>
            </a:pPr>
            <a:r>
              <a:rPr lang="en-US"/>
              <a:t>Types of Learning:</a:t>
            </a:r>
            <a:br>
              <a:rPr lang="en-US"/>
            </a:br>
            <a:br>
              <a:rPr lang="en-US" sz="3100"/>
            </a:br>
            <a:r>
              <a:rPr lang="en-US" sz="3100"/>
              <a:t>•Supervised (inductive) learning–Given: training data + desired outputs (labels).</a:t>
            </a:r>
            <a:br>
              <a:rPr lang="en-US" sz="3100"/>
            </a:br>
            <a:br>
              <a:rPr lang="en-US" sz="3100"/>
            </a:br>
            <a:r>
              <a:rPr lang="en-US" sz="3100"/>
              <a:t>•Unsupervised learning–Given: training data (without desired outputs).</a:t>
            </a:r>
            <a:br>
              <a:rPr lang="en-US" sz="3100"/>
            </a:br>
            <a:br>
              <a:rPr lang="en-US" sz="3100"/>
            </a:br>
            <a:r>
              <a:rPr lang="en-US" sz="3100"/>
              <a:t>•Reinforcement learning–Rewards from sequence of actions.</a:t>
            </a:r>
            <a:endParaRPr sz="3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2592925" y="624110"/>
            <a:ext cx="8911687" cy="219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 sz="3100"/>
              <a:t>Supervised Learning: </a:t>
            </a:r>
            <a:br>
              <a:rPr lang="en-US" sz="2800"/>
            </a:br>
            <a:r>
              <a:rPr lang="en-US" sz="2800"/>
              <a:t>1)Regression</a:t>
            </a:r>
            <a:br>
              <a:rPr lang="en-US" sz="2800"/>
            </a:br>
            <a:r>
              <a:rPr lang="en-US" sz="2800"/>
              <a:t>•Given (x1, y1), (x2, y2), ..., (xn, yn)</a:t>
            </a:r>
            <a:br>
              <a:rPr lang="en-US" sz="2800"/>
            </a:br>
            <a:r>
              <a:rPr lang="en-US" sz="2800"/>
              <a:t>•Learn a function f(x) to predict y given x–yaxis real-valued == regression</a:t>
            </a:r>
            <a:endParaRPr sz="2800"/>
          </a:p>
        </p:txBody>
      </p:sp>
      <p:pic>
        <p:nvPicPr>
          <p:cNvPr id="195" name="Google Shape;195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8329" y="2929862"/>
            <a:ext cx="4882461" cy="3230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2592925" y="624109"/>
            <a:ext cx="8911687" cy="206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800"/>
              <a:buFont typeface="Century Gothic"/>
              <a:buNone/>
            </a:pPr>
            <a:r>
              <a:rPr lang="en-US" sz="2800"/>
              <a:t>2)Classification</a:t>
            </a:r>
            <a:br>
              <a:rPr lang="en-US" sz="2800"/>
            </a:br>
            <a:r>
              <a:rPr lang="en-US" sz="2800"/>
              <a:t>•Given (x1, y1), (x2, y2), ..., (xn, yn)</a:t>
            </a:r>
            <a:br>
              <a:rPr lang="en-US" sz="2800"/>
            </a:br>
            <a:r>
              <a:rPr lang="en-US" sz="2800"/>
              <a:t>•Learn a function f(x) to predict y given x–yaxis categorical == classification</a:t>
            </a:r>
            <a:endParaRPr sz="2800"/>
          </a:p>
        </p:txBody>
      </p:sp>
      <p:pic>
        <p:nvPicPr>
          <p:cNvPr id="201" name="Google Shape;201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7309" y="2822575"/>
            <a:ext cx="4607509" cy="3411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2592925" y="624110"/>
            <a:ext cx="8911687" cy="2740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800"/>
              <a:buFont typeface="Century Gothic"/>
              <a:buNone/>
            </a:pPr>
            <a:r>
              <a:rPr lang="en-US" sz="2800"/>
              <a:t>Steps to build model:</a:t>
            </a:r>
            <a:br>
              <a:rPr lang="en-US"/>
            </a:br>
            <a:r>
              <a:rPr lang="en-US" sz="2400"/>
              <a:t>1 - Data Collection</a:t>
            </a:r>
            <a:br>
              <a:rPr lang="en-US" sz="2400"/>
            </a:br>
            <a:r>
              <a:rPr lang="en-US" sz="2400"/>
              <a:t>2 - Data Preparation</a:t>
            </a:r>
            <a:br>
              <a:rPr lang="en-US" sz="2400"/>
            </a:br>
            <a:r>
              <a:rPr lang="en-US" sz="2400"/>
              <a:t>3 - Choose a Model</a:t>
            </a:r>
            <a:br>
              <a:rPr lang="en-US" sz="2400"/>
            </a:br>
            <a:r>
              <a:rPr lang="en-US" sz="2400"/>
              <a:t>4 - Train the Model</a:t>
            </a:r>
            <a:br>
              <a:rPr lang="en-US" sz="2400"/>
            </a:br>
            <a:r>
              <a:rPr lang="en-US" sz="2400"/>
              <a:t>5 - Evaluate the Model</a:t>
            </a:r>
            <a:br>
              <a:rPr lang="en-US" sz="2400"/>
            </a:br>
            <a:r>
              <a:rPr lang="en-US" sz="2400"/>
              <a:t>6 - Make Predictions</a:t>
            </a:r>
            <a:endParaRPr sz="2400"/>
          </a:p>
        </p:txBody>
      </p:sp>
      <p:pic>
        <p:nvPicPr>
          <p:cNvPr id="207" name="Google Shape;20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2292" y="3493364"/>
            <a:ext cx="6507332" cy="31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2592925" y="624109"/>
            <a:ext cx="8911687" cy="4942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/>
              <a:t>Python libraries used in Machine Learning:</a:t>
            </a:r>
            <a:br>
              <a:rPr lang="en-US"/>
            </a:br>
            <a:r>
              <a:rPr lang="en-US"/>
              <a:t>1)Numpy</a:t>
            </a:r>
            <a:br>
              <a:rPr lang="en-US"/>
            </a:br>
            <a:r>
              <a:rPr lang="en-US"/>
              <a:t>2)Pandas</a:t>
            </a:r>
            <a:br>
              <a:rPr lang="en-US"/>
            </a:br>
            <a:r>
              <a:rPr lang="en-US"/>
              <a:t>3)Scikit-learn</a:t>
            </a:r>
            <a:br>
              <a:rPr lang="en-US"/>
            </a:br>
            <a:r>
              <a:rPr lang="en-US"/>
              <a:t>4)Matplotlib </a:t>
            </a:r>
            <a:br>
              <a:rPr lang="en-US"/>
            </a:br>
            <a:r>
              <a:rPr lang="en-US"/>
              <a:t>5)TensorFlow</a:t>
            </a:r>
            <a:br>
              <a:rPr lang="en-US"/>
            </a:br>
            <a:r>
              <a:rPr lang="en-US"/>
              <a:t>6)Keras</a:t>
            </a:r>
            <a:br>
              <a:rPr lang="en-US"/>
            </a:br>
            <a:r>
              <a:rPr lang="en-US"/>
              <a:t>7)PyTorch</a:t>
            </a:r>
            <a:br>
              <a:rPr lang="en-US"/>
            </a:br>
            <a:r>
              <a:rPr lang="en-US"/>
              <a:t>8)Scipy</a:t>
            </a:r>
            <a:br>
              <a:rPr lang="en-US"/>
            </a:br>
            <a:r>
              <a:rPr lang="en-US"/>
              <a:t>9)Seaborn</a:t>
            </a:r>
            <a:br>
              <a:rPr lang="en-US"/>
            </a:br>
            <a:br>
              <a:rPr b="1" lang="en-US"/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ctrTitle"/>
          </p:nvPr>
        </p:nvSpPr>
        <p:spPr>
          <a:xfrm>
            <a:off x="2207473" y="597023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5400"/>
              <a:buFont typeface="Century Gothic"/>
              <a:buNone/>
            </a:pPr>
            <a:r>
              <a:rPr b="1" lang="en-US"/>
              <a:t>Iris Flower Data Set</a:t>
            </a:r>
            <a:br>
              <a:rPr b="1" lang="en-US"/>
            </a:br>
            <a:endParaRPr/>
          </a:p>
        </p:txBody>
      </p:sp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7865508" y="5374402"/>
            <a:ext cx="4326492" cy="148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Made By: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/>
              <a:t>Name: Amber Kakkar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Course : B.Tech CSE –A (3</a:t>
            </a:r>
            <a:r>
              <a:rPr baseline="30000" lang="en-US"/>
              <a:t>rd</a:t>
            </a:r>
            <a:r>
              <a:rPr lang="en-US"/>
              <a:t> year 1 sem)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/>
              <a:t>Roll no:180102008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2473803" y="3261584"/>
            <a:ext cx="8911687" cy="323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000"/>
              <a:buFont typeface="Noto Sans Symbols"/>
              <a:buChar char="⮚"/>
            </a:pPr>
            <a:r>
              <a:rPr lang="en-US" sz="2000"/>
              <a:t>The </a:t>
            </a:r>
            <a:r>
              <a:rPr i="1" lang="en-US" sz="2000"/>
              <a:t>Iris</a:t>
            </a:r>
            <a:r>
              <a:rPr lang="en-US" sz="2000"/>
              <a:t> flower data set or Fisher's </a:t>
            </a:r>
            <a:r>
              <a:rPr i="1" lang="en-US" sz="2000"/>
              <a:t>Iris</a:t>
            </a:r>
            <a:r>
              <a:rPr lang="en-US" sz="2000"/>
              <a:t> data set is a multivariate data set introduced by Ronald Fisher in his 1936.</a:t>
            </a:r>
            <a:br>
              <a:rPr lang="en-US" sz="2000"/>
            </a:br>
            <a:br>
              <a:rPr lang="en-US" sz="2000"/>
            </a:br>
            <a:r>
              <a:rPr lang="en-US" sz="2000"/>
              <a:t>It is sometimes called Anderson's </a:t>
            </a:r>
            <a:r>
              <a:rPr i="1" lang="en-US" sz="2000"/>
              <a:t>Iris </a:t>
            </a:r>
            <a:r>
              <a:rPr lang="en-US" sz="2000"/>
              <a:t>data set because Edgar Anderson collected the data to quantify the morphologic variation of </a:t>
            </a:r>
            <a:r>
              <a:rPr i="1" lang="en-US" sz="2000"/>
              <a:t>Iris</a:t>
            </a:r>
            <a:r>
              <a:rPr lang="en-US" sz="2000"/>
              <a:t> flowers of three related species. The use of this data set in cluster analysis ıs however uncommon, since the data set only contains two clusters with rather obvious separation. </a:t>
            </a:r>
            <a:endParaRPr sz="2000"/>
          </a:p>
        </p:txBody>
      </p:sp>
      <p:pic>
        <p:nvPicPr>
          <p:cNvPr descr="https://upload.wikimedia.org/wikipedia/commons/thumb/4/46/R._A._Fischer.jpg/200px-R._A._Fischer.jpg" id="224" name="Google Shape;224;p28">
            <a:hlinkClick r:id="rId3"/>
          </p:cNvPr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7300" y="739113"/>
            <a:ext cx="2540000" cy="207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2672824" y="4030462"/>
            <a:ext cx="8911687" cy="2563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000"/>
              <a:buFont typeface="Noto Sans Symbols"/>
              <a:buChar char="⮚"/>
            </a:pPr>
            <a:r>
              <a:rPr lang="en-US" sz="2000"/>
              <a:t>One of the clusters contains </a:t>
            </a:r>
            <a:r>
              <a:rPr i="1" lang="en-US" sz="2000"/>
              <a:t>Iris setosa</a:t>
            </a:r>
            <a:r>
              <a:rPr lang="en-US" sz="2000"/>
              <a:t>, while the other cluster contains both </a:t>
            </a:r>
            <a:r>
              <a:rPr i="1" lang="en-US" sz="2000"/>
              <a:t>Iris virginica</a:t>
            </a:r>
            <a:r>
              <a:rPr lang="en-US" sz="2000"/>
              <a:t> and </a:t>
            </a:r>
            <a:r>
              <a:rPr i="1" lang="en-US" sz="2000"/>
              <a:t>Iris versicolor</a:t>
            </a:r>
            <a:r>
              <a:rPr lang="en-US" sz="2000"/>
              <a:t> and is not separable without the species information Fisher used. </a:t>
            </a:r>
            <a:br>
              <a:rPr lang="en-US" sz="2000"/>
            </a:br>
            <a:br>
              <a:rPr lang="en-US" sz="2000"/>
            </a:br>
            <a:r>
              <a:rPr lang="en-US" sz="2000"/>
              <a:t>It is multivariate(more than 2 dependent variable) data set Study of three related Iris flowers species. Data set contain 50 sample of each species(Iris-Setosa, Iris-Virginica, IrisVersicolor)</a:t>
            </a:r>
            <a:br>
              <a:rPr lang="en-US" sz="2000"/>
            </a:br>
            <a:endParaRPr sz="2000"/>
          </a:p>
        </p:txBody>
      </p:sp>
      <p:pic>
        <p:nvPicPr>
          <p:cNvPr id="230" name="Google Shape;230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8489" y="1038689"/>
            <a:ext cx="6140081" cy="2297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2397617" y="1502997"/>
            <a:ext cx="8911687" cy="22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 sz="2400"/>
              <a:t>Features Used :</a:t>
            </a:r>
            <a:br>
              <a:rPr lang="en-US" sz="2400"/>
            </a:br>
            <a:br>
              <a:rPr lang="en-US" sz="2400"/>
            </a:br>
            <a:r>
              <a:rPr lang="en-US" sz="2400"/>
              <a:t>1. Sepal length in cm </a:t>
            </a:r>
            <a:br>
              <a:rPr lang="en-US" sz="2400"/>
            </a:br>
            <a:r>
              <a:rPr lang="en-US" sz="2400"/>
              <a:t>2. Sepal width in cm </a:t>
            </a:r>
            <a:br>
              <a:rPr lang="en-US" sz="2400"/>
            </a:br>
            <a:r>
              <a:rPr lang="en-US" sz="2400"/>
              <a:t>3. Petal length in cm </a:t>
            </a:r>
            <a:br>
              <a:rPr lang="en-US" sz="2400"/>
            </a:br>
            <a:r>
              <a:rPr lang="en-US" sz="2400"/>
              <a:t>4. Petal width in cm</a:t>
            </a:r>
            <a:br>
              <a:rPr lang="en-US" sz="2400"/>
            </a:b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2353228" y="1263302"/>
            <a:ext cx="8911687" cy="4702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Data Analysis :</a:t>
            </a:r>
            <a:br>
              <a:rPr lang="en-US"/>
            </a:br>
            <a:br>
              <a:rPr lang="en-US" sz="2800"/>
            </a:br>
            <a:r>
              <a:rPr lang="en-US" sz="2800"/>
              <a:t>1. Descriptive statistics- SD, Min, Max etc .</a:t>
            </a:r>
            <a:br>
              <a:rPr lang="en-US" sz="2800"/>
            </a:br>
            <a:br>
              <a:rPr lang="en-US" sz="2800"/>
            </a:br>
            <a:r>
              <a:rPr lang="en-US" sz="2800"/>
              <a:t>2. Class Distribution (Species counts are balanced or imbalanced) – Balanced.</a:t>
            </a:r>
            <a:br>
              <a:rPr lang="en-US" sz="2800"/>
            </a:br>
            <a:br>
              <a:rPr lang="en-US" sz="2800"/>
            </a:br>
            <a:r>
              <a:rPr lang="en-US" sz="2800"/>
              <a:t>3. Univariate Plots:- Understand each attribute better. 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type="title"/>
          </p:nvPr>
        </p:nvSpPr>
        <p:spPr>
          <a:xfrm>
            <a:off x="2370984" y="943707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 sz="2400"/>
              <a:t>Box and whisker plots(Give idea about distribution of input attributes)</a:t>
            </a:r>
            <a:br>
              <a:rPr lang="en-US" sz="2400"/>
            </a:br>
            <a:br>
              <a:rPr lang="en-US" sz="2400"/>
            </a:br>
            <a:endParaRPr sz="2400"/>
          </a:p>
        </p:txBody>
      </p:sp>
      <p:pic>
        <p:nvPicPr>
          <p:cNvPr id="246" name="Google Shape;246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8408" y="2224597"/>
            <a:ext cx="6676008" cy="391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2592925" y="624110"/>
            <a:ext cx="8911687" cy="1036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800"/>
              <a:buFont typeface="Century Gothic"/>
              <a:buNone/>
            </a:pPr>
            <a:r>
              <a:rPr lang="en-US" sz="2800"/>
              <a:t>Plotting Histogram:</a:t>
            </a:r>
            <a:endParaRPr/>
          </a:p>
        </p:txBody>
      </p:sp>
      <p:pic>
        <p:nvPicPr>
          <p:cNvPr id="252" name="Google Shape;252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2926" y="1491449"/>
            <a:ext cx="7900480" cy="442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2592925" y="624110"/>
            <a:ext cx="8911687" cy="1169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800"/>
              <a:buFont typeface="Century Gothic"/>
              <a:buNone/>
            </a:pPr>
            <a:r>
              <a:rPr lang="en-US" sz="2800"/>
              <a:t>Plotting Scatter Graph Between Sepal Length and Sepal Width:</a:t>
            </a:r>
            <a:endParaRPr/>
          </a:p>
        </p:txBody>
      </p:sp>
      <p:pic>
        <p:nvPicPr>
          <p:cNvPr id="258" name="Google Shape;258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2924" y="2104008"/>
            <a:ext cx="7847215" cy="450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title"/>
          </p:nvPr>
        </p:nvSpPr>
        <p:spPr>
          <a:xfrm>
            <a:off x="2592925" y="624110"/>
            <a:ext cx="8911687" cy="515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Observation:</a:t>
            </a:r>
            <a:br>
              <a:rPr lang="en-US"/>
            </a:br>
            <a:br>
              <a:rPr lang="en-US"/>
            </a:br>
            <a:r>
              <a:rPr lang="en-US" sz="2800"/>
              <a:t>1. Using Sepal_Lenght &amp; Sepal_Width features, we can only distinguish Setosa flower from others.</a:t>
            </a:r>
            <a:br>
              <a:rPr lang="en-US" sz="2800"/>
            </a:br>
            <a:r>
              <a:rPr lang="en-US" sz="2800"/>
              <a:t> </a:t>
            </a:r>
            <a:br>
              <a:rPr lang="en-US" sz="2800"/>
            </a:br>
            <a:r>
              <a:rPr lang="en-US" sz="2800"/>
              <a:t>2. Seperating Versicolor &amp; Virginica is much harder as they have considerable overlap.</a:t>
            </a:r>
            <a:br>
              <a:rPr lang="en-US" sz="2800"/>
            </a:br>
            <a:br>
              <a:rPr lang="en-US" sz="2800"/>
            </a:br>
            <a:r>
              <a:rPr lang="en-US" sz="2800"/>
              <a:t>3. Hence, Sepal_Lenght &amp; Sepal_Width features only work well for Setosa.</a:t>
            </a:r>
            <a:endParaRPr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2619559" y="1778207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Implementation of Machine Learning.</a:t>
            </a:r>
            <a:br>
              <a:rPr lang="en-US"/>
            </a:br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10724225" y="4657078"/>
            <a:ext cx="719092" cy="55929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2592925" y="1100832"/>
            <a:ext cx="8911687" cy="5566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Steps to implement Machine Learning</a:t>
            </a:r>
            <a:br>
              <a:rPr lang="en-US"/>
            </a:br>
            <a:br>
              <a:rPr lang="en-US"/>
            </a:br>
            <a:r>
              <a:rPr lang="en-US" sz="3100"/>
              <a:t>1. Import Library </a:t>
            </a:r>
            <a:br>
              <a:rPr lang="en-US" sz="3100"/>
            </a:br>
            <a:br>
              <a:rPr lang="en-US" sz="3100"/>
            </a:br>
            <a:r>
              <a:rPr lang="en-US" sz="3100"/>
              <a:t>2. Analyze Data </a:t>
            </a:r>
            <a:br>
              <a:rPr lang="en-US" sz="3100"/>
            </a:br>
            <a:br>
              <a:rPr lang="en-US" sz="3100"/>
            </a:br>
            <a:r>
              <a:rPr lang="en-US" sz="3100"/>
              <a:t>3. Spliting the Data Set into train and test</a:t>
            </a:r>
            <a:br>
              <a:rPr lang="en-US" sz="3100"/>
            </a:br>
            <a:br>
              <a:rPr lang="en-US" sz="3100"/>
            </a:br>
            <a:r>
              <a:rPr lang="en-US" sz="3100"/>
              <a:t>4. Chossing right algorithm for training model</a:t>
            </a:r>
            <a:br>
              <a:rPr lang="en-US" sz="3100"/>
            </a:br>
            <a:br>
              <a:rPr lang="en-US" sz="3100"/>
            </a:br>
            <a:r>
              <a:rPr lang="en-US" sz="3100"/>
              <a:t>5. Test the algorithm with test data.</a:t>
            </a:r>
            <a:endParaRPr sz="3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2592925" y="624110"/>
            <a:ext cx="8911687" cy="5989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/>
              <a:t>Algorithms Used:</a:t>
            </a:r>
            <a:br>
              <a:rPr lang="en-US"/>
            </a:br>
            <a:br>
              <a:rPr lang="en-US"/>
            </a:br>
            <a:r>
              <a:rPr lang="en-US" sz="3100"/>
              <a:t>1. Logistic Regression</a:t>
            </a:r>
            <a:br>
              <a:rPr lang="en-US" sz="3100"/>
            </a:br>
            <a:br>
              <a:rPr lang="en-US" sz="3100"/>
            </a:br>
            <a:r>
              <a:rPr lang="en-US" sz="3100"/>
              <a:t>2. Support Vector Machine</a:t>
            </a:r>
            <a:br>
              <a:rPr lang="en-US" sz="3100"/>
            </a:br>
            <a:br>
              <a:rPr lang="en-US" sz="3100"/>
            </a:br>
            <a:r>
              <a:rPr lang="en-US" sz="3100"/>
              <a:t>3. Classification and Regression Tree(CART) </a:t>
            </a:r>
            <a:br>
              <a:rPr lang="en-US" sz="3100"/>
            </a:br>
            <a:br>
              <a:rPr lang="en-US" sz="3100"/>
            </a:br>
            <a:r>
              <a:rPr lang="en-US" sz="3100"/>
              <a:t>4. Gaussion Naive Bayes(NB) </a:t>
            </a:r>
            <a:br>
              <a:rPr lang="en-US" sz="3100"/>
            </a:br>
            <a:br>
              <a:rPr lang="en-US" sz="3100"/>
            </a:br>
            <a:r>
              <a:rPr lang="en-US" sz="3100"/>
              <a:t>5. K-Nearest Neighbour(KNN) </a:t>
            </a:r>
            <a:br>
              <a:rPr lang="en-US" sz="3100"/>
            </a:br>
            <a:r>
              <a:rPr lang="en-US" sz="3100"/>
              <a:t> </a:t>
            </a:r>
            <a:br>
              <a:rPr lang="en-US" sz="3100"/>
            </a:br>
            <a:r>
              <a:rPr lang="en-US" sz="3100"/>
              <a:t>6. Deision Tree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2370339" y="624110"/>
            <a:ext cx="9134274" cy="672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Final Evaluation Of All Models:</a:t>
            </a:r>
            <a:endParaRPr/>
          </a:p>
        </p:txBody>
      </p:sp>
      <p:pic>
        <p:nvPicPr>
          <p:cNvPr id="285" name="Google Shape;285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0338" y="1296140"/>
            <a:ext cx="9134275" cy="514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1157" y="798990"/>
            <a:ext cx="8611340" cy="591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